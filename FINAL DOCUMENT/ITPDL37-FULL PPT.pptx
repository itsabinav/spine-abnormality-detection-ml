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1"/>
  </p:sldMasterIdLst>
  <p:sldIdLst>
    <p:sldId id="256" r:id="rId2"/>
    <p:sldId id="257" r:id="rId3"/>
    <p:sldId id="258" r:id="rId4"/>
    <p:sldId id="259" r:id="rId5"/>
    <p:sldId id="277" r:id="rId6"/>
    <p:sldId id="260" r:id="rId7"/>
    <p:sldId id="261" r:id="rId8"/>
    <p:sldId id="262" r:id="rId9"/>
    <p:sldId id="278" r:id="rId10"/>
    <p:sldId id="279" r:id="rId11"/>
    <p:sldId id="280" r:id="rId12"/>
    <p:sldId id="281" r:id="rId13"/>
    <p:sldId id="263" r:id="rId14"/>
    <p:sldId id="282" r:id="rId15"/>
    <p:sldId id="264" r:id="rId16"/>
    <p:sldId id="265" r:id="rId17"/>
    <p:sldId id="266" r:id="rId18"/>
    <p:sldId id="272" r:id="rId19"/>
    <p:sldId id="283" r:id="rId20"/>
    <p:sldId id="284" r:id="rId21"/>
    <p:sldId id="273" r:id="rId22"/>
    <p:sldId id="285" r:id="rId23"/>
    <p:sldId id="267" r:id="rId24"/>
    <p:sldId id="286" r:id="rId25"/>
    <p:sldId id="268" r:id="rId26"/>
    <p:sldId id="287" r:id="rId27"/>
    <p:sldId id="288" r:id="rId28"/>
    <p:sldId id="289" r:id="rId29"/>
    <p:sldId id="290" r:id="rId30"/>
    <p:sldId id="291" r:id="rId31"/>
    <p:sldId id="292" r:id="rId32"/>
    <p:sldId id="293" r:id="rId33"/>
    <p:sldId id="294" r:id="rId34"/>
    <p:sldId id="269" r:id="rId35"/>
    <p:sldId id="274"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F239A9A-B4B0-4B32-B8CD-2E25E95134C4}" type="datetimeFigureOut">
              <a:rPr lang="en-US" smtClean="0"/>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22159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91E21DC-8981-44E6-BC8C-2BA8F673FFBB}" type="datetimeFigureOut">
              <a:rPr lang="en-US" smtClean="0"/>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30555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EB9C5D3-0140-4E75-8D7F-C0623D06DFD7}" type="datetimeFigureOut">
              <a:rPr lang="en-US" smtClean="0"/>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37844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A5666F9-5B40-48E0-8DFD-99EF944CDD22}" type="datetimeFigureOut">
              <a:rPr lang="en-US" smtClean="0"/>
              <a:t>10/5/2024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05701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A698D6B-2C72-4E21-9893-A649C6E2A47D}" type="datetimeFigureOut">
              <a:rPr lang="en-US" smtClean="0"/>
              <a:t>10/5/2024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61579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C86811C9-A66C-49F0-970E-F7B68D9109A0}" type="datetimeFigureOut">
              <a:rPr lang="en-US" smtClean="0"/>
              <a:t>10/5/2024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33578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C01AE78-96A2-4A23-B183-3B6DB4374FE7}" type="datetimeFigureOut">
              <a:rPr lang="en-US" smtClean="0"/>
              <a:t>10/5/2024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07876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73AE0757-B101-4811-9189-10EB2F458E2D}" type="datetimeFigureOut">
              <a:rPr lang="en-US" smtClean="0"/>
              <a:t>10/5/2024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66125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BDC078-589F-40E3-816C-EE21D62B5BBA}" type="datetimeFigureOut">
              <a:rPr lang="en-US" smtClean="0"/>
              <a:t>10/5/2024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71130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5518A9-B687-4302-9395-2322403C6656}" type="datetimeFigureOut">
              <a:rPr lang="en-US" smtClean="0"/>
              <a:t>10/5/2024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21367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99A684-0CB7-41E9-A4DF-5D1C2CA5BF6F}" type="datetimeFigureOut">
              <a:rPr lang="en-US" smtClean="0"/>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1052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EDD7C35-9E19-4518-A4B2-3B09CD8CC756}" type="datetimeFigureOut">
              <a:rPr lang="en-US" smtClean="0"/>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627655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6196DA8-8897-4DDF-BFB6-5D83863C837A}" type="datetimeFigureOut">
              <a:rPr lang="en-US" smtClean="0"/>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029287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CBBA708-C5F0-412D-90E2-1919F0D196AE}" type="datetimeFigureOut">
              <a:rPr lang="en-US" smtClean="0"/>
              <a:t>10/5/2024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277108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9C8F8FA-EF43-4642-9368-3F4E33039BD9}" type="datetimeFigureOut">
              <a:rPr lang="en-US" smtClean="0"/>
              <a:t>10/5/2024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8417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B61E721-B01C-4D5D-A3CA-2E5518383F10}" type="datetimeFigureOut">
              <a:rPr lang="en-US" smtClean="0"/>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33441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13FEF9-69D0-4F8C-A336-59491FBEDC47}" type="datetimeFigureOut">
              <a:rPr lang="en-US" smtClean="0"/>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93440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7004436-CA73-4D53-89B4-2A5C7347BF2F}" type="datetimeFigureOut">
              <a:rPr lang="en-US" smtClean="0"/>
              <a:t>10/5/2024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50596763"/>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sz="3600" b="1" u="sng" dirty="0" smtClean="0">
                <a:solidFill>
                  <a:srgbClr val="FFFF00"/>
                </a:solidFill>
                <a:latin typeface="Times New Roman" panose="02020603050405020304" pitchFamily="18" charset="0"/>
                <a:cs typeface="Times New Roman" panose="02020603050405020304" pitchFamily="18" charset="0"/>
              </a:rPr>
              <a:t>SPINAL VISION CNN-DRIVEN TECHNIQUES FOR ACCURATE STENOSIS DETECTION</a:t>
            </a:r>
            <a:endParaRPr lang="en-IN" sz="3600" b="1" u="sng" dirty="0">
              <a:solidFill>
                <a:srgbClr val="FFFF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07055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ABSTRACT:</a:t>
            </a:r>
            <a:r>
              <a:rPr lang="en-AU" dirty="0"/>
              <a:t/>
            </a:r>
            <a:br>
              <a:rPr lang="en-AU" dirty="0"/>
            </a:br>
            <a:endParaRPr lang="en-AU" dirty="0"/>
          </a:p>
        </p:txBody>
      </p:sp>
      <p:sp>
        <p:nvSpPr>
          <p:cNvPr id="3" name="Content Placeholder 2"/>
          <p:cNvSpPr>
            <a:spLocks noGrp="1"/>
          </p:cNvSpPr>
          <p:nvPr>
            <p:ph idx="1"/>
          </p:nvPr>
        </p:nvSpPr>
        <p:spPr>
          <a:xfrm>
            <a:off x="1103312" y="2052918"/>
            <a:ext cx="10451379" cy="4195481"/>
          </a:xfrm>
        </p:spPr>
        <p:txBody>
          <a:bodyPr>
            <a:normAutofit fontScale="77500" lnSpcReduction="20000"/>
          </a:bodyPr>
          <a:lstStyle/>
          <a:p>
            <a:r>
              <a:rPr lang="en-AU" dirty="0"/>
              <a:t>Spinal lumbar stenosis is a prevalent degenerative condition affecting the spinal canal, leading to compression of neural structures and subsequent symptoms such as pain and reduced mobility. Accurate and timely classification of lumbar stenosis stages is crucial for effective treatment planning and patient management. This study proposes a novel approach employing Convolutional Neural Network (CNN) techniques for the automated detection and classification of spinal lumbar stenosis stages. The proposed CNN-based framework utilizes advanced image processing and deep learning methodologies to analyse medical imaging data, such as magnetic resonance imaging (MRI) and computed tomography (CT) scans. The convolutional layers of the network are designed to automatically extract hierarchical features from the input images, capturing intricate patterns associated with different stages of lumbar stenosis. The model is trained on a diverse dataset encompassing various degrees of stenosis severity, ensuring robust generalization to unseen cases. The research focuses on achieving high accuracy, sensitivity, and specificity in classifying lumbar stenosis stages, thereby assisting healthcare professionals in making informed decisions about patient care. The results obtained from the proposed CNN-based classification system are compared with existing methods to validate its efficacy and superiority in terms of diagnostic performance. This study not only contributes to the field of medical image analysis but also addresses the pressing need for accurate and efficient tools for lumbar stenosis stage classification. The integration of deep learning techniques in this context holds promising potential for enhancing diagnostic capabilities and streamlining treatment strategies, ultimately improving patient outcomes in the management of spinal lumbar stenosis.</a:t>
            </a:r>
            <a:endParaRPr lang="en-IN" dirty="0"/>
          </a:p>
          <a:p>
            <a:pPr marL="0" indent="0">
              <a:buNone/>
            </a:pPr>
            <a:endParaRPr lang="en-IN" dirty="0"/>
          </a:p>
        </p:txBody>
      </p:sp>
    </p:spTree>
    <p:extLst>
      <p:ext uri="{BB962C8B-B14F-4D97-AF65-F5344CB8AC3E}">
        <p14:creationId xmlns:p14="http://schemas.microsoft.com/office/powerpoint/2010/main" val="37972341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EXISTING SYSTEM</a:t>
            </a:r>
            <a:r>
              <a:rPr lang="en-AU" b="1" dirty="0" smtClean="0"/>
              <a:t>:</a:t>
            </a:r>
            <a:endParaRPr lang="en-AU" dirty="0"/>
          </a:p>
        </p:txBody>
      </p:sp>
      <p:sp>
        <p:nvSpPr>
          <p:cNvPr id="3" name="Content Placeholder 2"/>
          <p:cNvSpPr>
            <a:spLocks noGrp="1"/>
          </p:cNvSpPr>
          <p:nvPr>
            <p:ph idx="1"/>
          </p:nvPr>
        </p:nvSpPr>
        <p:spPr/>
        <p:txBody>
          <a:bodyPr>
            <a:normAutofit fontScale="92500" lnSpcReduction="20000"/>
          </a:bodyPr>
          <a:lstStyle/>
          <a:p>
            <a:r>
              <a:rPr lang="en-AU" dirty="0"/>
              <a:t>Locomotion disorder caused by spinal cord injury (SCI) leads to a considerably decreased quality of people’s lives. Although there are no known cure methods for SCI, a lower extremity exoskeleton (LEE) has a perspective to restore the locomotion ability of SCI patients. Statistics show that the number of published articles on LEEs has exponentially increased over the past 20 years; however, no reviews have been conducted to summarize these studies comprehensively. To fill up this open gap, a comprehensive review from engineering to clinical standpoint is carried out, which is based on the preferred reporting items for systematic reviews and meta-analyses’ methods, including their structural designs, drive forms, control methods, and clinical assessments. A systematic discussion among them is performed while considering the main scientific and technical aspects. The analysis indicates that the actuator configuration, motor selection, state transition, trajectory tracking, transparency implementation, and clinical factor design in exoskeleton development are full of challenges, which should be investigated in more technical efforts in the future. </a:t>
            </a:r>
            <a:endParaRPr lang="en-IN" dirty="0"/>
          </a:p>
          <a:p>
            <a:endParaRPr lang="en-IN" dirty="0"/>
          </a:p>
        </p:txBody>
      </p:sp>
    </p:spTree>
    <p:extLst>
      <p:ext uri="{BB962C8B-B14F-4D97-AF65-F5344CB8AC3E}">
        <p14:creationId xmlns:p14="http://schemas.microsoft.com/office/powerpoint/2010/main" val="42716119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Drawbacks</a:t>
            </a:r>
            <a:r>
              <a:rPr lang="en-AU" b="1" dirty="0" smtClean="0"/>
              <a:t>:</a:t>
            </a:r>
            <a:endParaRPr lang="en-AU" dirty="0"/>
          </a:p>
        </p:txBody>
      </p:sp>
      <p:sp>
        <p:nvSpPr>
          <p:cNvPr id="3" name="Content Placeholder 2"/>
          <p:cNvSpPr>
            <a:spLocks noGrp="1"/>
          </p:cNvSpPr>
          <p:nvPr>
            <p:ph idx="1"/>
          </p:nvPr>
        </p:nvSpPr>
        <p:spPr/>
        <p:txBody>
          <a:bodyPr>
            <a:normAutofit/>
          </a:bodyPr>
          <a:lstStyle/>
          <a:p>
            <a:pPr lvl="0"/>
            <a:r>
              <a:rPr lang="en-US" dirty="0"/>
              <a:t>They did not implement the deployment process</a:t>
            </a:r>
            <a:endParaRPr lang="en-IN" dirty="0"/>
          </a:p>
          <a:p>
            <a:pPr lvl="0"/>
            <a:r>
              <a:rPr lang="en-US" dirty="0"/>
              <a:t>They implemented simple method. They did not Implement Convolution neural network and artificial neural network.</a:t>
            </a:r>
            <a:endParaRPr lang="en-IN" dirty="0"/>
          </a:p>
          <a:p>
            <a:pPr lvl="0"/>
            <a:r>
              <a:rPr lang="en-US" dirty="0"/>
              <a:t>They did not do image preprocessing process.</a:t>
            </a:r>
            <a:endParaRPr lang="en-IN" dirty="0"/>
          </a:p>
          <a:p>
            <a:pPr lvl="0"/>
            <a:r>
              <a:rPr lang="en-US" dirty="0"/>
              <a:t>They did not do data analysis process by using Plot and Graphs.</a:t>
            </a:r>
            <a:endParaRPr lang="en-IN" dirty="0"/>
          </a:p>
          <a:p>
            <a:pPr lvl="0"/>
            <a:r>
              <a:rPr lang="en-US" dirty="0"/>
              <a:t>They did not compared more than an architecture to getting better accuracy level. </a:t>
            </a:r>
            <a:endParaRPr lang="en-IN" dirty="0"/>
          </a:p>
          <a:p>
            <a:pPr lvl="0"/>
            <a:r>
              <a:rPr lang="en-US" dirty="0"/>
              <a:t>They are only found spinal </a:t>
            </a:r>
            <a:r>
              <a:rPr lang="en-AU" dirty="0"/>
              <a:t>Spinal Cord Injury</a:t>
            </a:r>
            <a:endParaRPr lang="en-IN" dirty="0"/>
          </a:p>
          <a:p>
            <a:pPr lvl="0"/>
            <a:r>
              <a:rPr lang="en-US" dirty="0"/>
              <a:t>They did not train the training data to computer properly.</a:t>
            </a:r>
            <a:endParaRPr lang="en-IN" dirty="0"/>
          </a:p>
          <a:p>
            <a:pPr marL="0" indent="0">
              <a:buNone/>
            </a:pPr>
            <a:endParaRPr lang="en-IN" dirty="0"/>
          </a:p>
        </p:txBody>
      </p:sp>
    </p:spTree>
    <p:extLst>
      <p:ext uri="{BB962C8B-B14F-4D97-AF65-F5344CB8AC3E}">
        <p14:creationId xmlns:p14="http://schemas.microsoft.com/office/powerpoint/2010/main" val="10940264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INTRODUCTION</a:t>
            </a:r>
            <a:endParaRPr lang="en-IN" dirty="0"/>
          </a:p>
        </p:txBody>
      </p:sp>
      <p:sp>
        <p:nvSpPr>
          <p:cNvPr id="3" name="Content Placeholder 2"/>
          <p:cNvSpPr>
            <a:spLocks noGrp="1"/>
          </p:cNvSpPr>
          <p:nvPr>
            <p:ph idx="1"/>
          </p:nvPr>
        </p:nvSpPr>
        <p:spPr/>
        <p:txBody>
          <a:bodyPr/>
          <a:lstStyle/>
          <a:p>
            <a:r>
              <a:rPr lang="en-AU" dirty="0"/>
              <a:t>The detection and classification of spinal lumbar stenosis stages represent a critical area in medical imaging, where accurate diagnosis plays a pivotal role in effective patient care. This study employs Convolutional Neural Network (CNN) techniques, a subset of deep learning, to enhance the precision and efficiency of spinal lumbar stenosis identification. By leveraging the advanced pattern recognition capabilities of CNNs, the proposed methodology aims to automate the classification of different stenosis stages based on medical imaging data. This innovative approach not only streamlines the diagnostic process but also holds the potential to improve overall patient outcomes by facilitating timely and accurate treatment interventions tailored to specific stenosis severity levels.</a:t>
            </a:r>
            <a:endParaRPr lang="en-IN" dirty="0"/>
          </a:p>
        </p:txBody>
      </p:sp>
    </p:spTree>
    <p:extLst>
      <p:ext uri="{BB962C8B-B14F-4D97-AF65-F5344CB8AC3E}">
        <p14:creationId xmlns:p14="http://schemas.microsoft.com/office/powerpoint/2010/main" val="492306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PROPOSED SYSTEM:</a:t>
            </a:r>
            <a:r>
              <a:rPr lang="en-AU" dirty="0"/>
              <a:t/>
            </a:r>
            <a:br>
              <a:rPr lang="en-AU" dirty="0"/>
            </a:br>
            <a:endParaRPr lang="en-AU" dirty="0"/>
          </a:p>
        </p:txBody>
      </p:sp>
      <p:sp>
        <p:nvSpPr>
          <p:cNvPr id="3" name="Content Placeholder 2"/>
          <p:cNvSpPr>
            <a:spLocks noGrp="1"/>
          </p:cNvSpPr>
          <p:nvPr>
            <p:ph idx="1"/>
          </p:nvPr>
        </p:nvSpPr>
        <p:spPr/>
        <p:txBody>
          <a:bodyPr>
            <a:normAutofit fontScale="92500" lnSpcReduction="20000"/>
          </a:bodyPr>
          <a:lstStyle/>
          <a:p>
            <a:r>
              <a:rPr lang="en-US" dirty="0"/>
              <a:t>The proposed system for the detection and classification of spinal lumbar stenosis stages utilizes advanced Convolutional Neural Network (CNN) techniques to enhance diagnostic accuracy and streamline patient care. Leveraging the power of deep learning, this innovative approach aims to categorize different stages of lumbar stenosis with a high degree of precision, providing healthcare professionals with valuable insights for tailored treatment plans. The CNN architecture employed in this system is designed to analyze medical imaging data, such as MRIs and CT scans, allowing for automated and efficient identification of lumbar stenosis severity. By harnessing the capabilities of neural networks, the proposed system contributes to a more nuanced understanding of spinal health, facilitating early intervention and personalized medical interventions. This technology represents a significant stride toward improving diagnostic capabilities in the field of orthopedics, ultimately enhancing patient outcomes and quality of care</a:t>
            </a:r>
            <a:r>
              <a:rPr lang="en-US" dirty="0" smtClean="0"/>
              <a:t>.</a:t>
            </a:r>
            <a:endParaRPr lang="en-IN" dirty="0"/>
          </a:p>
        </p:txBody>
      </p:sp>
    </p:spTree>
    <p:extLst>
      <p:ext uri="{BB962C8B-B14F-4D97-AF65-F5344CB8AC3E}">
        <p14:creationId xmlns:p14="http://schemas.microsoft.com/office/powerpoint/2010/main" val="42470851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Advantages:</a:t>
            </a:r>
            <a:r>
              <a:rPr lang="en-AU" dirty="0"/>
              <a:t/>
            </a:r>
            <a:br>
              <a:rPr lang="en-AU" dirty="0"/>
            </a:br>
            <a:endParaRPr lang="en-AU" dirty="0"/>
          </a:p>
        </p:txBody>
      </p:sp>
      <p:sp>
        <p:nvSpPr>
          <p:cNvPr id="3" name="Content Placeholder 2"/>
          <p:cNvSpPr>
            <a:spLocks noGrp="1"/>
          </p:cNvSpPr>
          <p:nvPr>
            <p:ph idx="1"/>
          </p:nvPr>
        </p:nvSpPr>
        <p:spPr/>
        <p:txBody>
          <a:bodyPr>
            <a:normAutofit fontScale="70000" lnSpcReduction="20000"/>
          </a:bodyPr>
          <a:lstStyle/>
          <a:p>
            <a:pPr lvl="0"/>
            <a:r>
              <a:rPr lang="en-US" dirty="0"/>
              <a:t>We implemented the deployment process by using Frontend codes like Html, </a:t>
            </a:r>
            <a:r>
              <a:rPr lang="en-US" dirty="0" err="1"/>
              <a:t>Css</a:t>
            </a:r>
            <a:r>
              <a:rPr lang="en-US" dirty="0"/>
              <a:t>, Bootstrap and Python Framework like Django or Flask.</a:t>
            </a:r>
            <a:endParaRPr lang="en-IN" dirty="0"/>
          </a:p>
          <a:p>
            <a:pPr lvl="0"/>
            <a:r>
              <a:rPr lang="en-US" dirty="0"/>
              <a:t>We implemented image preprocessing process by using Rescale, Horizontal flip, Shear range and Zoom range.</a:t>
            </a:r>
            <a:endParaRPr lang="en-IN" dirty="0"/>
          </a:p>
          <a:p>
            <a:pPr lvl="0"/>
            <a:r>
              <a:rPr lang="en-US" dirty="0"/>
              <a:t>We implemented data analysis process by using Plot and Graphs.</a:t>
            </a:r>
            <a:endParaRPr lang="en-IN" dirty="0"/>
          </a:p>
          <a:p>
            <a:pPr lvl="0"/>
            <a:r>
              <a:rPr lang="en-US" dirty="0"/>
              <a:t>We compared more than a two architecture to getting better accuracy level.</a:t>
            </a:r>
            <a:endParaRPr lang="en-IN" dirty="0"/>
          </a:p>
          <a:p>
            <a:pPr lvl="0"/>
            <a:r>
              <a:rPr lang="en-AU" dirty="0"/>
              <a:t>We classify into 4 Spine stenosis disease. The proposed system leverages deep learning (CNN architectures) to automatically extract and analyse patterns in spine stenosis images.</a:t>
            </a:r>
            <a:endParaRPr lang="en-IN" dirty="0"/>
          </a:p>
          <a:p>
            <a:r>
              <a:rPr lang="en-US" dirty="0"/>
              <a:t> </a:t>
            </a:r>
            <a:endParaRPr lang="en-IN" dirty="0"/>
          </a:p>
          <a:p>
            <a:pPr lvl="0"/>
            <a:r>
              <a:rPr lang="en-US" dirty="0"/>
              <a:t>We figure out performance metrics value properly.</a:t>
            </a:r>
            <a:endParaRPr lang="en-IN" dirty="0"/>
          </a:p>
          <a:p>
            <a:pPr lvl="0"/>
            <a:r>
              <a:rPr lang="en-US" dirty="0"/>
              <a:t>We improved the accuracy level and performance level. </a:t>
            </a:r>
            <a:endParaRPr lang="en-IN" dirty="0"/>
          </a:p>
          <a:p>
            <a:pPr lvl="0"/>
            <a:r>
              <a:rPr lang="en-US" dirty="0"/>
              <a:t>We implemented Convolution neural network and artificial neural network concept properly.</a:t>
            </a:r>
            <a:endParaRPr lang="en-IN" dirty="0"/>
          </a:p>
          <a:p>
            <a:pPr lvl="0"/>
            <a:r>
              <a:rPr lang="en-US" dirty="0"/>
              <a:t>We did train the training data to computer properly. We implemented the test data to testing the output values.</a:t>
            </a:r>
            <a:endParaRPr lang="en-IN" dirty="0"/>
          </a:p>
        </p:txBody>
      </p:sp>
    </p:spTree>
    <p:extLst>
      <p:ext uri="{BB962C8B-B14F-4D97-AF65-F5344CB8AC3E}">
        <p14:creationId xmlns:p14="http://schemas.microsoft.com/office/powerpoint/2010/main" val="23610866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PREPARING THE DATASET:</a:t>
            </a:r>
            <a:r>
              <a:rPr lang="en-AU" dirty="0"/>
              <a:t/>
            </a:r>
            <a:br>
              <a:rPr lang="en-AU" dirty="0"/>
            </a:br>
            <a:endParaRPr lang="en-AU" dirty="0"/>
          </a:p>
        </p:txBody>
      </p:sp>
      <p:sp>
        <p:nvSpPr>
          <p:cNvPr id="3" name="Content Placeholder 2"/>
          <p:cNvSpPr>
            <a:spLocks noGrp="1"/>
          </p:cNvSpPr>
          <p:nvPr>
            <p:ph idx="1"/>
          </p:nvPr>
        </p:nvSpPr>
        <p:spPr/>
        <p:txBody>
          <a:bodyPr/>
          <a:lstStyle/>
          <a:p>
            <a:r>
              <a:rPr lang="en-US" b="1" dirty="0">
                <a:effectLst/>
              </a:rPr>
              <a:t>	</a:t>
            </a:r>
            <a:r>
              <a:rPr lang="en-US" b="1" dirty="0"/>
              <a:t> </a:t>
            </a:r>
            <a:r>
              <a:rPr lang="en-US" dirty="0"/>
              <a:t>This dataset contains train and test image records of features extracted, which were then classified into </a:t>
            </a:r>
            <a:r>
              <a:rPr lang="en-US" dirty="0" smtClean="0"/>
              <a:t>4 classes</a:t>
            </a:r>
            <a:r>
              <a:rPr lang="en-US" dirty="0"/>
              <a:t>:</a:t>
            </a:r>
          </a:p>
        </p:txBody>
      </p:sp>
    </p:spTree>
    <p:extLst>
      <p:ext uri="{BB962C8B-B14F-4D97-AF65-F5344CB8AC3E}">
        <p14:creationId xmlns:p14="http://schemas.microsoft.com/office/powerpoint/2010/main" val="7576243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 </a:t>
            </a:r>
            <a:r>
              <a:rPr lang="en-IN" dirty="0"/>
              <a:t/>
            </a:r>
            <a:br>
              <a:rPr lang="en-IN" dirty="0"/>
            </a:br>
            <a:r>
              <a:rPr lang="en-AU" b="1" dirty="0"/>
              <a:t>Review of Literature Survey</a:t>
            </a:r>
            <a:endParaRPr lang="en-IN" dirty="0"/>
          </a:p>
        </p:txBody>
      </p:sp>
      <p:sp>
        <p:nvSpPr>
          <p:cNvPr id="3" name="Content Placeholder 2"/>
          <p:cNvSpPr>
            <a:spLocks noGrp="1"/>
          </p:cNvSpPr>
          <p:nvPr>
            <p:ph idx="1"/>
          </p:nvPr>
        </p:nvSpPr>
        <p:spPr/>
        <p:txBody>
          <a:bodyPr>
            <a:normAutofit fontScale="77500" lnSpcReduction="20000"/>
          </a:bodyPr>
          <a:lstStyle/>
          <a:p>
            <a:r>
              <a:rPr lang="en-AU" b="1" dirty="0"/>
              <a:t>Title</a:t>
            </a:r>
            <a:r>
              <a:rPr lang="en-AU" dirty="0"/>
              <a:t>	  : Artificial intelligence and machine learning in spine research</a:t>
            </a:r>
            <a:endParaRPr lang="en-IN" dirty="0"/>
          </a:p>
          <a:p>
            <a:r>
              <a:rPr lang="en-AU" b="1" dirty="0"/>
              <a:t>Author</a:t>
            </a:r>
            <a:r>
              <a:rPr lang="en-AU" dirty="0"/>
              <a:t> : Fabio </a:t>
            </a:r>
            <a:r>
              <a:rPr lang="en-AU" dirty="0" err="1"/>
              <a:t>Galbusera</a:t>
            </a:r>
            <a:r>
              <a:rPr lang="en-AU" dirty="0"/>
              <a:t> | Gloria </a:t>
            </a:r>
            <a:r>
              <a:rPr lang="en-AU" dirty="0" err="1"/>
              <a:t>Casaroli</a:t>
            </a:r>
            <a:r>
              <a:rPr lang="en-AU" dirty="0"/>
              <a:t> | Tito </a:t>
            </a:r>
            <a:r>
              <a:rPr lang="en-AU" dirty="0" err="1"/>
              <a:t>Bassani</a:t>
            </a:r>
            <a:endParaRPr lang="en-IN" dirty="0"/>
          </a:p>
          <a:p>
            <a:r>
              <a:rPr lang="en-AU" b="1" dirty="0"/>
              <a:t>Year</a:t>
            </a:r>
            <a:r>
              <a:rPr lang="en-AU" dirty="0"/>
              <a:t>	 : 2018</a:t>
            </a:r>
            <a:endParaRPr lang="en-IN" dirty="0"/>
          </a:p>
          <a:p>
            <a:r>
              <a:rPr lang="en-AU" dirty="0"/>
              <a:t>Artificial intelligence (AI) and machine learning (ML) techniques are revolutionizing several industrial and research fields like computer vision, autonomous driving, natural language processing, and speech recognition. These novel tools are already having a major impact in radiology, diagnostics, and many other fields in which the availability of automated solution may benefit the accuracy and repeatability of the execution of critical tasks. In this narrative review, we first present a brief description of the various techniques that are being developed nowadays, with special focus on those used in spine research. Then, we describe the applications of AI and ML to problems related to the spine which have been published so far, including the localization of vertebrae and discs in radiological images, image segmentation, computer-aided diagnosis, prediction of clinical outcomes and complications, decision support systems, content-based image retrieval, biomechanics, and motion analysis. Finally, we briefly discuss major ethical issues related to the use of AI in healthcare, namely, accountability, risk of biased decisions as well as data privacy and security, which are nowadays being debated in the scientific community and by regulatory agencies.</a:t>
            </a:r>
            <a:endParaRPr lang="en-IN" dirty="0"/>
          </a:p>
        </p:txBody>
      </p:sp>
    </p:spTree>
    <p:extLst>
      <p:ext uri="{BB962C8B-B14F-4D97-AF65-F5344CB8AC3E}">
        <p14:creationId xmlns:p14="http://schemas.microsoft.com/office/powerpoint/2010/main" val="332448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561110"/>
            <a:ext cx="8946541" cy="5687290"/>
          </a:xfrm>
        </p:spPr>
        <p:txBody>
          <a:bodyPr>
            <a:normAutofit fontScale="70000" lnSpcReduction="20000"/>
          </a:bodyPr>
          <a:lstStyle/>
          <a:p>
            <a:r>
              <a:rPr lang="en-AU" b="1" dirty="0"/>
              <a:t>Title</a:t>
            </a:r>
            <a:r>
              <a:rPr lang="en-AU" dirty="0"/>
              <a:t>	  : Clinical, Kinematic and Muscle Assessment of Bilateral Coordinated Upper-Limb Movements Following Cervical Spinal Cord Injury</a:t>
            </a:r>
            <a:endParaRPr lang="en-IN" dirty="0"/>
          </a:p>
          <a:p>
            <a:r>
              <a:rPr lang="en-AU" b="1" dirty="0"/>
              <a:t>Author</a:t>
            </a:r>
            <a:r>
              <a:rPr lang="en-AU" dirty="0"/>
              <a:t> : Amy </a:t>
            </a:r>
            <a:r>
              <a:rPr lang="en-AU" dirty="0" err="1"/>
              <a:t>Bellitto</a:t>
            </a:r>
            <a:r>
              <a:rPr lang="en-AU" dirty="0"/>
              <a:t> , Alice De Luca, Simona Gamba, Luca </a:t>
            </a:r>
            <a:r>
              <a:rPr lang="en-AU" dirty="0" err="1"/>
              <a:t>Losio</a:t>
            </a:r>
            <a:r>
              <a:rPr lang="en-AU" dirty="0"/>
              <a:t>, Antonino </a:t>
            </a:r>
            <a:r>
              <a:rPr lang="en-AU" dirty="0" err="1"/>
              <a:t>Massone</a:t>
            </a:r>
            <a:r>
              <a:rPr lang="en-AU" dirty="0"/>
              <a:t>, Maura </a:t>
            </a:r>
            <a:r>
              <a:rPr lang="en-AU" dirty="0" err="1"/>
              <a:t>Casadio</a:t>
            </a:r>
            <a:r>
              <a:rPr lang="en-AU" dirty="0"/>
              <a:t> , and Camilla </a:t>
            </a:r>
            <a:r>
              <a:rPr lang="en-AU" dirty="0" err="1"/>
              <a:t>Pierella</a:t>
            </a:r>
            <a:endParaRPr lang="en-IN" dirty="0"/>
          </a:p>
          <a:p>
            <a:r>
              <a:rPr lang="en-AU" b="1" dirty="0"/>
              <a:t>Year</a:t>
            </a:r>
            <a:r>
              <a:rPr lang="en-AU" dirty="0"/>
              <a:t>	 : 2023</a:t>
            </a:r>
            <a:endParaRPr lang="en-IN" dirty="0"/>
          </a:p>
          <a:p>
            <a:r>
              <a:rPr lang="en-AU" dirty="0"/>
              <a:t>— Cervical spinal cord injury (</a:t>
            </a:r>
            <a:r>
              <a:rPr lang="en-AU" dirty="0" err="1"/>
              <a:t>cSCI</a:t>
            </a:r>
            <a:r>
              <a:rPr lang="en-AU" dirty="0"/>
              <a:t>) often results in bilateral impairment of the arms, leading to difficulties in performing daily activities. However, little is known about the </a:t>
            </a:r>
            <a:r>
              <a:rPr lang="en-AU" dirty="0" err="1"/>
              <a:t>neuromotor</a:t>
            </a:r>
            <a:r>
              <a:rPr lang="en-AU" dirty="0"/>
              <a:t> alterations that affect the ability of individuals with </a:t>
            </a:r>
            <a:r>
              <a:rPr lang="en-AU" dirty="0" err="1"/>
              <a:t>cSCI</a:t>
            </a:r>
            <a:r>
              <a:rPr lang="en-AU" dirty="0"/>
              <a:t> to perform coordinated movements with both arms. To address this issue, we developed and tested a functional assessment that integrates clinical, kinematic, and muscle activity measures, including the evaluation of bilateral arm movements. Twelve subjects with a C5-C7 spinal lesion and six unimpaired subjects underwent an evaluation that included three tests: the Manual Muscle Test, Range Of Motion test and Arm stabilisation test, a subsection of the “Van </a:t>
            </a:r>
            <a:r>
              <a:rPr lang="en-AU" dirty="0" err="1"/>
              <a:t>Lieshout</a:t>
            </a:r>
            <a:r>
              <a:rPr lang="en-AU" dirty="0"/>
              <a:t> arm/hand function test”. During the latter, we recorded kinematic and muscle activity data from the upper-body during the execution of a set of movements that required participants to stabilize both arms against gravity at different </a:t>
            </a:r>
            <a:r>
              <a:rPr lang="en-AU" dirty="0" err="1"/>
              <a:t>config</a:t>
            </a:r>
            <a:r>
              <a:rPr lang="en-AU" dirty="0"/>
              <a:t> </a:t>
            </a:r>
            <a:r>
              <a:rPr lang="en-AU" dirty="0" err="1"/>
              <a:t>urations</a:t>
            </a:r>
            <a:r>
              <a:rPr lang="en-AU" dirty="0"/>
              <a:t>. Analytical methods, including muscle synergies, spinal maps, and Principal Component Analysis, were used to analyse the data. Clinical tests detected limitations in shoulder abduction-flexion of </a:t>
            </a:r>
            <a:r>
              <a:rPr lang="en-AU" dirty="0" err="1"/>
              <a:t>cSCI</a:t>
            </a:r>
            <a:r>
              <a:rPr lang="en-AU" dirty="0"/>
              <a:t> participants and alterations in elbows-wrists motor function. The instrumented assessment provided insight into how these limitations impacted the ability of </a:t>
            </a:r>
            <a:r>
              <a:rPr lang="en-AU" dirty="0" err="1"/>
              <a:t>cSCI</a:t>
            </a:r>
            <a:r>
              <a:rPr lang="en-AU" dirty="0"/>
              <a:t> participants to perform bilateral movements. They exhibited severe difficulty in performing movements involving over-the-shoulder motion and shoulder internal rotation due to altered patterns of activity of the scapular stabilizer muscles, latissimus </a:t>
            </a:r>
            <a:r>
              <a:rPr lang="en-AU" dirty="0" err="1"/>
              <a:t>dorsi</a:t>
            </a:r>
            <a:r>
              <a:rPr lang="en-AU" dirty="0"/>
              <a:t>, pectoralis, and triceps. Our findings shed light on the bilateral </a:t>
            </a:r>
            <a:r>
              <a:rPr lang="en-AU" dirty="0" err="1"/>
              <a:t>neuromotor</a:t>
            </a:r>
            <a:r>
              <a:rPr lang="en-AU" dirty="0"/>
              <a:t> changes that occur post-</a:t>
            </a:r>
            <a:r>
              <a:rPr lang="en-AU" dirty="0" err="1"/>
              <a:t>cSCI</a:t>
            </a:r>
            <a:r>
              <a:rPr lang="en-AU" dirty="0"/>
              <a:t> addressing not only motor deficits, but also the underlying abnormal, weak, or silent muscle activations.</a:t>
            </a:r>
            <a:endParaRPr lang="en-IN" dirty="0"/>
          </a:p>
          <a:p>
            <a:endParaRPr lang="en-IN" dirty="0"/>
          </a:p>
        </p:txBody>
      </p:sp>
    </p:spTree>
    <p:extLst>
      <p:ext uri="{BB962C8B-B14F-4D97-AF65-F5344CB8AC3E}">
        <p14:creationId xmlns:p14="http://schemas.microsoft.com/office/powerpoint/2010/main" val="3658920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581892"/>
            <a:ext cx="8946541" cy="5666508"/>
          </a:xfrm>
        </p:spPr>
        <p:txBody>
          <a:bodyPr>
            <a:normAutofit fontScale="85000" lnSpcReduction="20000"/>
          </a:bodyPr>
          <a:lstStyle/>
          <a:p>
            <a:r>
              <a:rPr lang="en-AU" b="1" dirty="0"/>
              <a:t>Title</a:t>
            </a:r>
            <a:r>
              <a:rPr lang="en-AU" dirty="0"/>
              <a:t>	  : Data-driven diagnosis of spinal abnormalities using feature selection and machine learning algorithms</a:t>
            </a:r>
            <a:endParaRPr lang="en-IN" dirty="0"/>
          </a:p>
          <a:p>
            <a:r>
              <a:rPr lang="en-AU" b="1" dirty="0"/>
              <a:t>Author</a:t>
            </a:r>
            <a:r>
              <a:rPr lang="en-AU" dirty="0"/>
              <a:t> : Md. </a:t>
            </a:r>
            <a:r>
              <a:rPr lang="en-AU" dirty="0" err="1"/>
              <a:t>Raihan</a:t>
            </a:r>
            <a:r>
              <a:rPr lang="en-AU" dirty="0"/>
              <a:t>-Al-</a:t>
            </a:r>
            <a:r>
              <a:rPr lang="en-AU" dirty="0" err="1"/>
              <a:t>MasudID</a:t>
            </a:r>
            <a:r>
              <a:rPr lang="en-AU" dirty="0"/>
              <a:t>, M. </a:t>
            </a:r>
            <a:r>
              <a:rPr lang="en-AU" dirty="0" err="1"/>
              <a:t>Rubaiyat</a:t>
            </a:r>
            <a:r>
              <a:rPr lang="en-AU" dirty="0"/>
              <a:t> Hossain </a:t>
            </a:r>
            <a:r>
              <a:rPr lang="en-AU" dirty="0" err="1"/>
              <a:t>MondalID</a:t>
            </a:r>
            <a:endParaRPr lang="en-IN" dirty="0"/>
          </a:p>
          <a:p>
            <a:r>
              <a:rPr lang="en-AU" b="1" dirty="0"/>
              <a:t>Year</a:t>
            </a:r>
            <a:r>
              <a:rPr lang="en-AU" dirty="0"/>
              <a:t>	 : 2020</a:t>
            </a:r>
            <a:endParaRPr lang="en-IN" dirty="0"/>
          </a:p>
          <a:p>
            <a:r>
              <a:rPr lang="en-AU" dirty="0"/>
              <a:t>This paper focuses on the application of machine learning algorithms for predicting spinal abnormalities. As a data </a:t>
            </a:r>
            <a:r>
              <a:rPr lang="en-AU" dirty="0" err="1"/>
              <a:t>preprocessing</a:t>
            </a:r>
            <a:r>
              <a:rPr lang="en-AU" dirty="0"/>
              <a:t> step, univariate feature selection as a filter based feature selection, and principal component analysis (PCA) as a feature extraction algorithm are considered. A number of machine learning approaches namely support vector machine (SVM), logistic regression (LR), bagging ensemble methods are considered for the diagnosis of spinal abnormality. The SVM, LR, bagging SVM and bagging LR models are applied on a dataset of 310 samples publicly available in </a:t>
            </a:r>
            <a:r>
              <a:rPr lang="en-AU" dirty="0" err="1"/>
              <a:t>Kaggle</a:t>
            </a:r>
            <a:r>
              <a:rPr lang="en-AU" dirty="0"/>
              <a:t> repository. The performance of classification of abnormal and normal spinal patients is evaluated in terms of a number of factors including training and testing accuracy, recall, and miss rate. The classifier models are also evaluated by optimizing the kernel parameters, and by using the results of receiver operating characteristic (ROC) and precision-recall curves. Results indicate that when 78% data are used for training, the observed training accuracies for SVM, LR, bagging SVM and bagging LR are 86.30%, 85.47%, 86.72% and 85.06%, respectively. On the other hand, the accuracies for the test dataset for SVM, LR, bagging SVM and bagging LR are the same being 86.96%. However, bagging SVM is the most attractive as it has a higher recall value and a lower miss rate compared to others. Hence, bagging SVM is suitable for the classification of spinal patients when applied on the most five important features of spinal samples.</a:t>
            </a:r>
            <a:endParaRPr lang="en-IN" dirty="0"/>
          </a:p>
          <a:p>
            <a:endParaRPr lang="en-IN" dirty="0"/>
          </a:p>
        </p:txBody>
      </p:sp>
    </p:spTree>
    <p:extLst>
      <p:ext uri="{BB962C8B-B14F-4D97-AF65-F5344CB8AC3E}">
        <p14:creationId xmlns:p14="http://schemas.microsoft.com/office/powerpoint/2010/main" val="2286391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768928"/>
            <a:ext cx="8946541" cy="5479472"/>
          </a:xfrm>
        </p:spPr>
        <p:txBody>
          <a:bodyPr>
            <a:normAutofit fontScale="70000" lnSpcReduction="20000"/>
          </a:bodyPr>
          <a:lstStyle/>
          <a:p>
            <a:r>
              <a:rPr lang="en-AU" b="1" dirty="0"/>
              <a:t>Title</a:t>
            </a:r>
            <a:r>
              <a:rPr lang="en-AU" dirty="0"/>
              <a:t>	  : </a:t>
            </a:r>
            <a:r>
              <a:rPr lang="en-AU" dirty="0" err="1"/>
              <a:t>DXplorer</a:t>
            </a:r>
            <a:r>
              <a:rPr lang="en-AU" dirty="0"/>
              <a:t>: A Unified Visualization Framework for Interactive Dendritic Spine Analysis Using 3D Morphological Features</a:t>
            </a:r>
            <a:endParaRPr lang="en-IN" dirty="0"/>
          </a:p>
          <a:p>
            <a:r>
              <a:rPr lang="en-AU" b="1" dirty="0"/>
              <a:t>Author</a:t>
            </a:r>
            <a:r>
              <a:rPr lang="en-AU" dirty="0"/>
              <a:t> : </a:t>
            </a:r>
            <a:r>
              <a:rPr lang="en-AU" dirty="0" err="1"/>
              <a:t>JunYoung</a:t>
            </a:r>
            <a:r>
              <a:rPr lang="en-AU" dirty="0"/>
              <a:t> Choi , Sang-</a:t>
            </a:r>
            <a:r>
              <a:rPr lang="en-AU" dirty="0" err="1"/>
              <a:t>Eun</a:t>
            </a:r>
            <a:r>
              <a:rPr lang="en-AU" dirty="0"/>
              <a:t> Lee , </a:t>
            </a:r>
            <a:r>
              <a:rPr lang="en-AU" dirty="0" err="1"/>
              <a:t>YeIn</a:t>
            </a:r>
            <a:r>
              <a:rPr lang="en-AU" dirty="0"/>
              <a:t> Lee, </a:t>
            </a:r>
            <a:r>
              <a:rPr lang="en-AU" dirty="0" err="1"/>
              <a:t>Eunji</a:t>
            </a:r>
            <a:r>
              <a:rPr lang="en-AU" dirty="0"/>
              <a:t> Cho , </a:t>
            </a:r>
            <a:r>
              <a:rPr lang="en-AU" dirty="0" err="1"/>
              <a:t>Sunghoe</a:t>
            </a:r>
            <a:r>
              <a:rPr lang="en-AU" dirty="0"/>
              <a:t> Chang , and Won-Ki </a:t>
            </a:r>
            <a:r>
              <a:rPr lang="en-AU" dirty="0" err="1"/>
              <a:t>Jeong</a:t>
            </a:r>
            <a:endParaRPr lang="en-IN" dirty="0"/>
          </a:p>
          <a:p>
            <a:r>
              <a:rPr lang="en-AU" b="1" dirty="0"/>
              <a:t>Year</a:t>
            </a:r>
            <a:r>
              <a:rPr lang="en-AU" dirty="0"/>
              <a:t>	 : 2023</a:t>
            </a:r>
            <a:endParaRPr lang="en-IN" dirty="0"/>
          </a:p>
          <a:p>
            <a:r>
              <a:rPr lang="en-AU" dirty="0"/>
              <a:t>—Dendritic spines are dynamic, submicron-scale protrusions on neuronal dendrites that receive neuronal inputs. Morphological changes in the dendritic spine often reflect alterations in physiological conditions and are indicators of various neuropsychiatric conditions. However, owing to the highly dynamic and heterogeneous nature of spines, accurate measurement and objective analysis of spine morphology are major challenges in neuroscience research. Most conventional approaches for </a:t>
            </a:r>
            <a:r>
              <a:rPr lang="en-AU" dirty="0" err="1"/>
              <a:t>analyzing</a:t>
            </a:r>
            <a:r>
              <a:rPr lang="en-AU" dirty="0"/>
              <a:t> dendritic spines are based on two-dimensional (2D) images, which barely reflect the actual three-dimensional (3D) shapes. Although some recent studies have attempted to </a:t>
            </a:r>
            <a:r>
              <a:rPr lang="en-AU" dirty="0" err="1"/>
              <a:t>analyze</a:t>
            </a:r>
            <a:r>
              <a:rPr lang="en-AU" dirty="0"/>
              <a:t> spines with various 3D-based features, it is still difficult to objectively categorize and </a:t>
            </a:r>
            <a:r>
              <a:rPr lang="en-AU" dirty="0" err="1"/>
              <a:t>analyze</a:t>
            </a:r>
            <a:r>
              <a:rPr lang="en-AU" dirty="0"/>
              <a:t> spines based on 3D morphology. Here, we propose a unified visualization framework for an interactive 3D dendritic spine analysis system, </a:t>
            </a:r>
            <a:r>
              <a:rPr lang="en-AU" dirty="0" err="1"/>
              <a:t>DXplorer</a:t>
            </a:r>
            <a:r>
              <a:rPr lang="en-AU" dirty="0"/>
              <a:t>, that displays 3D rendering of spines and plots the high-dimensional features extracted from the 3D mesh of spines. With this system, users can perform the clustering of spines interactively and explore and </a:t>
            </a:r>
            <a:r>
              <a:rPr lang="en-AU" dirty="0" err="1"/>
              <a:t>analyze</a:t>
            </a:r>
            <a:r>
              <a:rPr lang="en-AU" dirty="0"/>
              <a:t> dendritic spines based on high-dimensional features. We propose a series of high-dimensional morphological features extracted from a 3D mesh of dendritic spines. In addition, an interactive machine learning classifier with visual exploration and user feedback using an interactive 3D mesh grid view ensures a more precise classification based on the spine phenotype. A user study and two case studies were conducted to quantitatively verify the performance and usability of the </a:t>
            </a:r>
            <a:r>
              <a:rPr lang="en-AU" dirty="0" err="1"/>
              <a:t>DXplorer</a:t>
            </a:r>
            <a:r>
              <a:rPr lang="en-AU" dirty="0"/>
              <a:t>. We demonstrate that the system performs the entire analytic process effectively and provides high-quality, accurate, and objective analysis.</a:t>
            </a:r>
            <a:endParaRPr lang="en-IN" dirty="0"/>
          </a:p>
        </p:txBody>
      </p:sp>
    </p:spTree>
    <p:extLst>
      <p:ext uri="{BB962C8B-B14F-4D97-AF65-F5344CB8AC3E}">
        <p14:creationId xmlns:p14="http://schemas.microsoft.com/office/powerpoint/2010/main" val="1154605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SYSTEM STUDY</a:t>
            </a:r>
            <a:endParaRPr lang="en-IN" dirty="0"/>
          </a:p>
        </p:txBody>
      </p:sp>
      <p:sp>
        <p:nvSpPr>
          <p:cNvPr id="3" name="Content Placeholder 2"/>
          <p:cNvSpPr>
            <a:spLocks noGrp="1"/>
          </p:cNvSpPr>
          <p:nvPr>
            <p:ph idx="1"/>
          </p:nvPr>
        </p:nvSpPr>
        <p:spPr/>
        <p:txBody>
          <a:bodyPr>
            <a:normAutofit fontScale="85000" lnSpcReduction="20000"/>
          </a:bodyPr>
          <a:lstStyle/>
          <a:p>
            <a:r>
              <a:rPr lang="en-AU" b="1" dirty="0"/>
              <a:t>Aim:</a:t>
            </a:r>
            <a:endParaRPr lang="en-IN" dirty="0"/>
          </a:p>
          <a:p>
            <a:r>
              <a:rPr lang="en-AU" dirty="0"/>
              <a:t>This study aims to implement Convolutional Neural Network (CNN) architectures for accurate and automated classification of spine stenosis in medical imaging. </a:t>
            </a:r>
            <a:endParaRPr lang="en-IN" dirty="0"/>
          </a:p>
          <a:p>
            <a:r>
              <a:rPr lang="en-AU" b="1" dirty="0"/>
              <a:t> </a:t>
            </a:r>
            <a:endParaRPr lang="en-IN" dirty="0"/>
          </a:p>
          <a:p>
            <a:r>
              <a:rPr lang="en-US" b="1" dirty="0"/>
              <a:t>Objectives:</a:t>
            </a:r>
            <a:endParaRPr lang="en-IN" b="1" i="1" dirty="0"/>
          </a:p>
          <a:p>
            <a:r>
              <a:rPr lang="en-AU" dirty="0"/>
              <a:t>	The objective of detecting and classifying stages of spinal lumbar stenosis using Convolutional Neural Network (CNN) techniques is to enhance the accuracy and efficiency of diagnosis in this medical condition. Spinal lumbar stenosis is a prevalent disorder characterized by the narrowing of the spinal canal, often leading to debilitating symptoms. The application of CNNs in medical image analysis enables automated and precise recognition of specific patterns and features indicative of different stages of lumbar stenosis. This approach aims to provide clinicians with a reliable tool for early detection, classification, and personalized treatment planning, ultimately improving patient outcomes by facilitating timely interventions and reducing the risk of complications associated with this spinal disorder.</a:t>
            </a:r>
            <a:endParaRPr lang="en-IN" dirty="0"/>
          </a:p>
        </p:txBody>
      </p:sp>
    </p:spTree>
    <p:extLst>
      <p:ext uri="{BB962C8B-B14F-4D97-AF65-F5344CB8AC3E}">
        <p14:creationId xmlns:p14="http://schemas.microsoft.com/office/powerpoint/2010/main" val="11050662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Scope:</a:t>
            </a:r>
            <a:endParaRPr lang="en-IN" dirty="0"/>
          </a:p>
        </p:txBody>
      </p:sp>
      <p:sp>
        <p:nvSpPr>
          <p:cNvPr id="3" name="Content Placeholder 2"/>
          <p:cNvSpPr>
            <a:spLocks noGrp="1"/>
          </p:cNvSpPr>
          <p:nvPr>
            <p:ph idx="1"/>
          </p:nvPr>
        </p:nvSpPr>
        <p:spPr/>
        <p:txBody>
          <a:bodyPr>
            <a:normAutofit fontScale="92500" lnSpcReduction="10000"/>
          </a:bodyPr>
          <a:lstStyle/>
          <a:p>
            <a:r>
              <a:rPr lang="en-AU" dirty="0"/>
              <a:t>The detection of spinal lumbar stenosis stages through Convolutional Neural Network (CNN) techniques holds promising prospects in the field of medical image analysis. By leveraging advanced deep learning methodologies, this approach allows for automated and accurate classification of different stages of spinal lumbar stenosis, providing a more efficient and objective diagnostic tool. CNNs excel in extracting intricate features from medical images, enabling the model to discern subtle variations in spinal structures indicative of different stenosis stages. This technology not only enhances the speed and precision of diagnosis but also has the potential to assist healthcare professionals in tailoring appropriate treatment plans for patients based on the severity of their condition. As a result, the application of CNN techniques in the detection and classification of spinal lumbar stenosis stages represents a significant stride towards improving patient care and diagnostic efficiency in the realm of spinal disorders.</a:t>
            </a:r>
            <a:endParaRPr lang="en-IN" dirty="0"/>
          </a:p>
        </p:txBody>
      </p:sp>
    </p:spTree>
    <p:extLst>
      <p:ext uri="{BB962C8B-B14F-4D97-AF65-F5344CB8AC3E}">
        <p14:creationId xmlns:p14="http://schemas.microsoft.com/office/powerpoint/2010/main" val="2361531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Environment Requirements:</a:t>
            </a:r>
            <a:r>
              <a:rPr lang="en-AU" dirty="0"/>
              <a:t/>
            </a:r>
            <a:br>
              <a:rPr lang="en-AU" dirty="0"/>
            </a:br>
            <a:endParaRPr lang="en-AU" dirty="0"/>
          </a:p>
        </p:txBody>
      </p:sp>
      <p:sp>
        <p:nvSpPr>
          <p:cNvPr id="3" name="Content Placeholder 2"/>
          <p:cNvSpPr>
            <a:spLocks noGrp="1"/>
          </p:cNvSpPr>
          <p:nvPr>
            <p:ph idx="1"/>
          </p:nvPr>
        </p:nvSpPr>
        <p:spPr/>
        <p:txBody>
          <a:bodyPr>
            <a:normAutofit/>
          </a:bodyPr>
          <a:lstStyle/>
          <a:p>
            <a:r>
              <a:rPr lang="en-AU" b="1" dirty="0" smtClean="0">
                <a:effectLst/>
              </a:rPr>
              <a:t>1</a:t>
            </a:r>
            <a:r>
              <a:rPr lang="en-AU" b="1" dirty="0">
                <a:effectLst/>
              </a:rPr>
              <a:t>.</a:t>
            </a:r>
            <a:r>
              <a:rPr lang="en-AU" dirty="0">
                <a:effectLst/>
              </a:rPr>
              <a:t> </a:t>
            </a:r>
            <a:r>
              <a:rPr lang="en-AU" b="1" dirty="0">
                <a:effectLst/>
              </a:rPr>
              <a:t>Software Requirements</a:t>
            </a:r>
            <a:r>
              <a:rPr lang="en-AU" dirty="0">
                <a:effectLst/>
              </a:rPr>
              <a:t>:	</a:t>
            </a:r>
          </a:p>
          <a:p>
            <a:r>
              <a:rPr lang="en-AU" dirty="0">
                <a:effectLst/>
              </a:rPr>
              <a:t>Operating System	 : Windows / Linux</a:t>
            </a:r>
          </a:p>
          <a:p>
            <a:r>
              <a:rPr lang="en-AU" dirty="0">
                <a:effectLst/>
              </a:rPr>
              <a:t>Simulation Tool  	 : Anaconda with </a:t>
            </a:r>
            <a:r>
              <a:rPr lang="en-AU" dirty="0" err="1">
                <a:effectLst/>
              </a:rPr>
              <a:t>Jupyter</a:t>
            </a:r>
            <a:r>
              <a:rPr lang="en-AU" dirty="0">
                <a:effectLst/>
              </a:rPr>
              <a:t> Notebook</a:t>
            </a:r>
          </a:p>
          <a:p>
            <a:pPr marL="0" indent="0">
              <a:buNone/>
            </a:pPr>
            <a:r>
              <a:rPr lang="en-AU" dirty="0">
                <a:effectLst/>
              </a:rPr>
              <a:t> </a:t>
            </a:r>
          </a:p>
          <a:p>
            <a:pPr marL="0" indent="0">
              <a:buNone/>
            </a:pPr>
            <a:r>
              <a:rPr lang="en-AU" b="1" dirty="0">
                <a:effectLst/>
              </a:rPr>
              <a:t>2.</a:t>
            </a:r>
            <a:r>
              <a:rPr lang="en-AU" dirty="0">
                <a:effectLst/>
              </a:rPr>
              <a:t> </a:t>
            </a:r>
            <a:r>
              <a:rPr lang="en-AU" b="1" dirty="0">
                <a:effectLst/>
              </a:rPr>
              <a:t>Hardware requirements</a:t>
            </a:r>
            <a:r>
              <a:rPr lang="en-AU" dirty="0">
                <a:effectLst/>
              </a:rPr>
              <a:t>:	</a:t>
            </a:r>
          </a:p>
          <a:p>
            <a:r>
              <a:rPr lang="en-AU" dirty="0">
                <a:effectLst/>
              </a:rPr>
              <a:t>Processor   		: Pentium IV/III</a:t>
            </a:r>
          </a:p>
          <a:p>
            <a:r>
              <a:rPr lang="en-AU" dirty="0">
                <a:effectLst/>
              </a:rPr>
              <a:t>Hard disk 		: minimum 80 GB</a:t>
            </a:r>
          </a:p>
          <a:p>
            <a:r>
              <a:rPr lang="en-AU" dirty="0">
                <a:effectLst/>
              </a:rPr>
              <a:t>RAM         		: minimum 2 GB</a:t>
            </a:r>
          </a:p>
        </p:txBody>
      </p:sp>
    </p:spTree>
    <p:extLst>
      <p:ext uri="{BB962C8B-B14F-4D97-AF65-F5344CB8AC3E}">
        <p14:creationId xmlns:p14="http://schemas.microsoft.com/office/powerpoint/2010/main" val="14662263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System Architecture:</a:t>
            </a:r>
            <a:r>
              <a:rPr lang="en-AU" dirty="0"/>
              <a:t/>
            </a:r>
            <a:br>
              <a:rPr lang="en-AU" dirty="0"/>
            </a:br>
            <a:endParaRPr lang="en-AU" dirty="0"/>
          </a:p>
        </p:txBody>
      </p:sp>
      <p:pic>
        <p:nvPicPr>
          <p:cNvPr id="5" name="Content Placeholder 4"/>
          <p:cNvPicPr>
            <a:picLocks noGrp="1"/>
          </p:cNvPicPr>
          <p:nvPr>
            <p:ph idx="1"/>
          </p:nvPr>
        </p:nvPicPr>
        <p:blipFill>
          <a:blip r:embed="rId2"/>
          <a:stretch>
            <a:fillRect/>
          </a:stretch>
        </p:blipFill>
        <p:spPr>
          <a:xfrm>
            <a:off x="2296400" y="2052638"/>
            <a:ext cx="6560975" cy="4195762"/>
          </a:xfrm>
          <a:prstGeom prst="rect">
            <a:avLst/>
          </a:prstGeom>
        </p:spPr>
      </p:pic>
    </p:spTree>
    <p:extLst>
      <p:ext uri="{BB962C8B-B14F-4D97-AF65-F5344CB8AC3E}">
        <p14:creationId xmlns:p14="http://schemas.microsoft.com/office/powerpoint/2010/main" val="34768493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USECASE DIAGRAM:</a:t>
            </a:r>
            <a:r>
              <a:rPr lang="en-AU" dirty="0"/>
              <a:t/>
            </a:r>
            <a:br>
              <a:rPr lang="en-AU" dirty="0"/>
            </a:br>
            <a:endParaRPr lang="en-AU" dirty="0"/>
          </a:p>
        </p:txBody>
      </p:sp>
      <p:pic>
        <p:nvPicPr>
          <p:cNvPr id="4" name="Content Placeholder 3" descr="Capture1"/>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1475509" y="2069306"/>
            <a:ext cx="6025429" cy="4162425"/>
          </a:xfrm>
          <a:prstGeom prst="rect">
            <a:avLst/>
          </a:prstGeom>
          <a:noFill/>
          <a:ln>
            <a:noFill/>
          </a:ln>
        </p:spPr>
      </p:pic>
    </p:spTree>
    <p:extLst>
      <p:ext uri="{BB962C8B-B14F-4D97-AF65-F5344CB8AC3E}">
        <p14:creationId xmlns:p14="http://schemas.microsoft.com/office/powerpoint/2010/main" val="38794234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CLASS DIAGRAM:</a:t>
            </a:r>
            <a:endParaRPr lang="en-IN" dirty="0"/>
          </a:p>
        </p:txBody>
      </p:sp>
      <p:pic>
        <p:nvPicPr>
          <p:cNvPr id="6" name="Content Placeholder 5"/>
          <p:cNvPicPr>
            <a:picLocks noGrp="1"/>
          </p:cNvPicPr>
          <p:nvPr>
            <p:ph idx="1"/>
          </p:nvPr>
        </p:nvPicPr>
        <p:blipFill>
          <a:blip r:embed="rId2"/>
          <a:stretch>
            <a:fillRect/>
          </a:stretch>
        </p:blipFill>
        <p:spPr>
          <a:xfrm>
            <a:off x="2403566" y="1946366"/>
            <a:ext cx="6319109" cy="4432662"/>
          </a:xfrm>
          <a:prstGeom prst="rect">
            <a:avLst/>
          </a:prstGeom>
        </p:spPr>
      </p:pic>
    </p:spTree>
    <p:extLst>
      <p:ext uri="{BB962C8B-B14F-4D97-AF65-F5344CB8AC3E}">
        <p14:creationId xmlns:p14="http://schemas.microsoft.com/office/powerpoint/2010/main" val="676544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ACTIVITY DIAGRAM:</a:t>
            </a:r>
            <a:endParaRPr lang="en-IN" dirty="0"/>
          </a:p>
        </p:txBody>
      </p:sp>
      <p:pic>
        <p:nvPicPr>
          <p:cNvPr id="5" name="Content Placeholder 4"/>
          <p:cNvPicPr>
            <a:picLocks noGrp="1"/>
          </p:cNvPicPr>
          <p:nvPr>
            <p:ph idx="1"/>
          </p:nvPr>
        </p:nvPicPr>
        <p:blipFill>
          <a:blip r:embed="rId2"/>
          <a:stretch>
            <a:fillRect/>
          </a:stretch>
        </p:blipFill>
        <p:spPr>
          <a:xfrm>
            <a:off x="2723752" y="2154753"/>
            <a:ext cx="5706271" cy="3991532"/>
          </a:xfrm>
          <a:prstGeom prst="rect">
            <a:avLst/>
          </a:prstGeom>
        </p:spPr>
      </p:pic>
    </p:spTree>
    <p:extLst>
      <p:ext uri="{BB962C8B-B14F-4D97-AF65-F5344CB8AC3E}">
        <p14:creationId xmlns:p14="http://schemas.microsoft.com/office/powerpoint/2010/main" val="1769305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SEQUENCE DIAGRAM:</a:t>
            </a:r>
            <a:endParaRPr lang="en-IN" dirty="0"/>
          </a:p>
        </p:txBody>
      </p:sp>
      <p:pic>
        <p:nvPicPr>
          <p:cNvPr id="5" name="Content Placeholder 4"/>
          <p:cNvPicPr>
            <a:picLocks noGrp="1"/>
          </p:cNvPicPr>
          <p:nvPr>
            <p:ph idx="1"/>
          </p:nvPr>
        </p:nvPicPr>
        <p:blipFill>
          <a:blip r:embed="rId2"/>
          <a:stretch>
            <a:fillRect/>
          </a:stretch>
        </p:blipFill>
        <p:spPr>
          <a:xfrm>
            <a:off x="3164750" y="2052638"/>
            <a:ext cx="4824276" cy="4195762"/>
          </a:xfrm>
          <a:prstGeom prst="rect">
            <a:avLst/>
          </a:prstGeom>
        </p:spPr>
      </p:pic>
    </p:spTree>
    <p:extLst>
      <p:ext uri="{BB962C8B-B14F-4D97-AF65-F5344CB8AC3E}">
        <p14:creationId xmlns:p14="http://schemas.microsoft.com/office/powerpoint/2010/main" val="83012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ER DIAGRAM:</a:t>
            </a:r>
            <a:r>
              <a:rPr lang="en-IN" dirty="0"/>
              <a:t/>
            </a:r>
            <a:br>
              <a:rPr lang="en-IN" dirty="0"/>
            </a:br>
            <a:endParaRPr lang="en-IN" dirty="0"/>
          </a:p>
        </p:txBody>
      </p:sp>
      <p:pic>
        <p:nvPicPr>
          <p:cNvPr id="5" name="Content Placeholder 4"/>
          <p:cNvPicPr>
            <a:picLocks noGrp="1"/>
          </p:cNvPicPr>
          <p:nvPr>
            <p:ph idx="1"/>
          </p:nvPr>
        </p:nvPicPr>
        <p:blipFill>
          <a:blip r:embed="rId2"/>
          <a:stretch>
            <a:fillRect/>
          </a:stretch>
        </p:blipFill>
        <p:spPr>
          <a:xfrm>
            <a:off x="2942858" y="2626306"/>
            <a:ext cx="5268060" cy="3048425"/>
          </a:xfrm>
          <a:prstGeom prst="rect">
            <a:avLst/>
          </a:prstGeom>
        </p:spPr>
      </p:pic>
    </p:spTree>
    <p:extLst>
      <p:ext uri="{BB962C8B-B14F-4D97-AF65-F5344CB8AC3E}">
        <p14:creationId xmlns:p14="http://schemas.microsoft.com/office/powerpoint/2010/main" val="4193079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 of modules</a:t>
            </a:r>
            <a:endParaRPr lang="en-IN" dirty="0"/>
          </a:p>
        </p:txBody>
      </p:sp>
      <p:sp>
        <p:nvSpPr>
          <p:cNvPr id="3" name="Content Placeholder 2"/>
          <p:cNvSpPr>
            <a:spLocks noGrp="1"/>
          </p:cNvSpPr>
          <p:nvPr>
            <p:ph idx="1"/>
          </p:nvPr>
        </p:nvSpPr>
        <p:spPr/>
        <p:txBody>
          <a:bodyPr/>
          <a:lstStyle/>
          <a:p>
            <a:pPr lvl="0"/>
            <a:r>
              <a:rPr lang="en-IN" dirty="0" smtClean="0"/>
              <a:t>MANUAL NET</a:t>
            </a:r>
          </a:p>
          <a:p>
            <a:pPr lvl="0"/>
            <a:r>
              <a:rPr lang="en-IN" dirty="0" smtClean="0"/>
              <a:t>GOOGLE </a:t>
            </a:r>
            <a:r>
              <a:rPr lang="en-IN" dirty="0"/>
              <a:t>NET  </a:t>
            </a:r>
          </a:p>
          <a:p>
            <a:pPr lvl="0"/>
            <a:r>
              <a:rPr lang="en-IN" dirty="0"/>
              <a:t>LEENET</a:t>
            </a:r>
          </a:p>
          <a:p>
            <a:pPr>
              <a:buFont typeface="Wingdings" panose="05000000000000000000" pitchFamily="2" charset="2"/>
              <a:buChar char="v"/>
            </a:pPr>
            <a:r>
              <a:rPr lang="en-US" dirty="0" smtClean="0"/>
              <a:t>DEPLOYMENT</a:t>
            </a:r>
            <a:endParaRPr lang="en-IN" dirty="0"/>
          </a:p>
        </p:txBody>
      </p:sp>
    </p:spTree>
    <p:extLst>
      <p:ext uri="{BB962C8B-B14F-4D97-AF65-F5344CB8AC3E}">
        <p14:creationId xmlns:p14="http://schemas.microsoft.com/office/powerpoint/2010/main" val="18391222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GOOGLE NET:</a:t>
            </a:r>
            <a:r>
              <a:rPr lang="en-IN" dirty="0"/>
              <a:t/>
            </a:r>
            <a:br>
              <a:rPr lang="en-IN" dirty="0"/>
            </a:br>
            <a:endParaRPr lang="en-AU" dirty="0"/>
          </a:p>
        </p:txBody>
      </p:sp>
      <p:sp>
        <p:nvSpPr>
          <p:cNvPr id="3" name="Content Placeholder 2"/>
          <p:cNvSpPr>
            <a:spLocks noGrp="1"/>
          </p:cNvSpPr>
          <p:nvPr>
            <p:ph idx="1"/>
          </p:nvPr>
        </p:nvSpPr>
        <p:spPr>
          <a:xfrm>
            <a:off x="646111" y="2052918"/>
            <a:ext cx="10929361" cy="4195481"/>
          </a:xfrm>
        </p:spPr>
        <p:txBody>
          <a:bodyPr>
            <a:normAutofit fontScale="70000" lnSpcReduction="20000"/>
          </a:bodyPr>
          <a:lstStyle/>
          <a:p>
            <a:r>
              <a:rPr lang="en-AU" dirty="0" smtClean="0"/>
              <a:t>"</a:t>
            </a:r>
            <a:r>
              <a:rPr lang="en-AU" dirty="0" err="1"/>
              <a:t>GoogleNet</a:t>
            </a:r>
            <a:r>
              <a:rPr lang="en-AU" dirty="0"/>
              <a:t>," also known as "Inception-v1," is a deep learning architecture for image classification. It was developed by a team of researchers at Google, led by Christian </a:t>
            </a:r>
            <a:r>
              <a:rPr lang="en-AU" dirty="0" err="1"/>
              <a:t>Szegedy</a:t>
            </a:r>
            <a:r>
              <a:rPr lang="en-AU" dirty="0"/>
              <a:t>, and was the winner of the ImageNet Large Scale Visual Recognition Challenge (ILSVRC) in 2014.</a:t>
            </a:r>
            <a:endParaRPr lang="en-IN" dirty="0"/>
          </a:p>
          <a:p>
            <a:r>
              <a:rPr lang="en-AU" dirty="0"/>
              <a:t>The main innovation in the </a:t>
            </a:r>
            <a:r>
              <a:rPr lang="en-AU" dirty="0" err="1"/>
              <a:t>GoogleNet</a:t>
            </a:r>
            <a:r>
              <a:rPr lang="en-AU" dirty="0"/>
              <a:t> architecture is the use of the "Inception module," which incorporates multiple parallel convolutional operations of different filter sizes to capture features at various scales. This allows the network to learn both fine-grained and high-level abstract features efficiently.</a:t>
            </a:r>
            <a:endParaRPr lang="en-IN" dirty="0"/>
          </a:p>
          <a:p>
            <a:r>
              <a:rPr lang="en-AU" dirty="0"/>
              <a:t>Key features of the </a:t>
            </a:r>
            <a:r>
              <a:rPr lang="en-AU" dirty="0" err="1"/>
              <a:t>GoogleNet</a:t>
            </a:r>
            <a:r>
              <a:rPr lang="en-AU" dirty="0"/>
              <a:t> architecture:</a:t>
            </a:r>
            <a:endParaRPr lang="en-IN" dirty="0"/>
          </a:p>
          <a:p>
            <a:r>
              <a:rPr lang="en-AU" dirty="0"/>
              <a:t>Inception Module: The Inception module consists of a combination of 1x1, 3x3, and 5x5 convolutional filters, along with max-pooling operations. The idea behind this module is to allow the network to learn features at different spatial scales and capture both local and global patterns effectively. Additionally, 1x1 convolutions are used to reduce the dimensionality of the input channels, which helps in reducing computational complexity.</a:t>
            </a:r>
            <a:endParaRPr lang="en-IN" dirty="0"/>
          </a:p>
          <a:p>
            <a:r>
              <a:rPr lang="en-AU" dirty="0"/>
              <a:t>Multiple Stacked Inception Modules: </a:t>
            </a:r>
            <a:r>
              <a:rPr lang="en-AU" dirty="0" err="1"/>
              <a:t>GoogleNet</a:t>
            </a:r>
            <a:r>
              <a:rPr lang="en-AU" dirty="0"/>
              <a:t> consists of multiple stacked Inception modules to create a deep network. These modules are designed to capture increasingly complex patterns as the network goes deeper. The inclusion of multiple Inception modules also allows the network to be computationally efficient, as it can utilize different filter sizes simultaneously.</a:t>
            </a:r>
            <a:endParaRPr lang="en-IN" dirty="0"/>
          </a:p>
          <a:p>
            <a:r>
              <a:rPr lang="en-AU" dirty="0"/>
              <a:t>Auxiliary Classifiers: </a:t>
            </a:r>
            <a:r>
              <a:rPr lang="en-AU" dirty="0" err="1"/>
              <a:t>GoogleNet</a:t>
            </a:r>
            <a:r>
              <a:rPr lang="en-AU" dirty="0"/>
              <a:t> includes auxiliary classifiers at intermediate layers of the network. These auxiliary classifiers serve as "side branches" and are used to combat the vanishing gradient problem during training. They add extra supervision to the network and help in better gradient flow during backpropagation</a:t>
            </a:r>
          </a:p>
        </p:txBody>
      </p:sp>
    </p:spTree>
    <p:extLst>
      <p:ext uri="{BB962C8B-B14F-4D97-AF65-F5344CB8AC3E}">
        <p14:creationId xmlns:p14="http://schemas.microsoft.com/office/powerpoint/2010/main" val="7013364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GOOGLE NET:</a:t>
            </a:r>
            <a:r>
              <a:rPr lang="en-IN" dirty="0"/>
              <a:t/>
            </a:r>
            <a:br>
              <a:rPr lang="en-IN" dirty="0"/>
            </a:br>
            <a:endParaRPr lang="en-IN" dirty="0"/>
          </a:p>
        </p:txBody>
      </p:sp>
      <p:pic>
        <p:nvPicPr>
          <p:cNvPr id="4" name="Content Placeholder 3" descr="C:\Users\SPIRO-PYTHON\Music\The-illustration-of-the-GoogleNet-architecture-Szegedy-et-al-2015-All-convolutional.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8763" y="2264569"/>
            <a:ext cx="8096250" cy="3771900"/>
          </a:xfrm>
          <a:prstGeom prst="rect">
            <a:avLst/>
          </a:prstGeom>
          <a:noFill/>
          <a:ln>
            <a:noFill/>
          </a:ln>
        </p:spPr>
      </p:pic>
    </p:spTree>
    <p:extLst>
      <p:ext uri="{BB962C8B-B14F-4D97-AF65-F5344CB8AC3E}">
        <p14:creationId xmlns:p14="http://schemas.microsoft.com/office/powerpoint/2010/main" val="1100009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LENET:</a:t>
            </a:r>
            <a:endParaRPr lang="en-AU" dirty="0"/>
          </a:p>
        </p:txBody>
      </p:sp>
      <p:sp>
        <p:nvSpPr>
          <p:cNvPr id="3" name="Content Placeholder 2"/>
          <p:cNvSpPr>
            <a:spLocks noGrp="1"/>
          </p:cNvSpPr>
          <p:nvPr>
            <p:ph idx="1"/>
          </p:nvPr>
        </p:nvSpPr>
        <p:spPr>
          <a:xfrm>
            <a:off x="436418" y="2052918"/>
            <a:ext cx="11263746" cy="4195481"/>
          </a:xfrm>
        </p:spPr>
        <p:txBody>
          <a:bodyPr>
            <a:normAutofit fontScale="62500" lnSpcReduction="20000"/>
          </a:bodyPr>
          <a:lstStyle/>
          <a:p>
            <a:r>
              <a:rPr lang="en-AU" dirty="0"/>
              <a:t>The </a:t>
            </a:r>
            <a:r>
              <a:rPr lang="en-AU" dirty="0" err="1"/>
              <a:t>LeNet</a:t>
            </a:r>
            <a:r>
              <a:rPr lang="en-AU" dirty="0"/>
              <a:t> architecture is a pioneering convolutional neural network (CNN) architecture developed by Yann </a:t>
            </a:r>
            <a:r>
              <a:rPr lang="en-AU" dirty="0" err="1"/>
              <a:t>LeCun</a:t>
            </a:r>
            <a:r>
              <a:rPr lang="en-AU" dirty="0"/>
              <a:t> and his colleagues in the early 1990s. It played a crucial role in the advancement of deep learning and was specifically designed for handwritten digit recognition tasks, such as recognizing digits in checks and postal addresses. </a:t>
            </a:r>
            <a:r>
              <a:rPr lang="en-AU" dirty="0" err="1"/>
              <a:t>LeNet</a:t>
            </a:r>
            <a:r>
              <a:rPr lang="en-AU" dirty="0"/>
              <a:t> laid the foundation for modern CNNs and their applications in image recognition and computer vision tasks.</a:t>
            </a:r>
            <a:endParaRPr lang="en-IN" dirty="0"/>
          </a:p>
          <a:p>
            <a:r>
              <a:rPr lang="en-AU" dirty="0"/>
              <a:t>The </a:t>
            </a:r>
            <a:r>
              <a:rPr lang="en-AU" dirty="0" err="1"/>
              <a:t>LeNet</a:t>
            </a:r>
            <a:r>
              <a:rPr lang="en-AU" dirty="0"/>
              <a:t> architecture consists of the following layers:</a:t>
            </a:r>
            <a:endParaRPr lang="en-IN" dirty="0"/>
          </a:p>
          <a:p>
            <a:r>
              <a:rPr lang="en-AU" dirty="0"/>
              <a:t>Input Layer: This layer accepts the input image, which is typically a grayscale image of a handwritten digit. The input images are usually of size 32x32 pixels.</a:t>
            </a:r>
            <a:endParaRPr lang="en-IN" dirty="0"/>
          </a:p>
          <a:p>
            <a:r>
              <a:rPr lang="en-AU" dirty="0"/>
              <a:t>Convolutional Layers: </a:t>
            </a:r>
            <a:r>
              <a:rPr lang="en-AU" dirty="0" err="1"/>
              <a:t>LeNet</a:t>
            </a:r>
            <a:r>
              <a:rPr lang="en-AU" dirty="0"/>
              <a:t> uses two convolutional layers to extract features from the input images. Each convolutional layer applies convolutional filters (also called kernels) to the input image, capturing different patterns and features. These filters slide over the image to create feature maps.</a:t>
            </a:r>
            <a:endParaRPr lang="en-IN" dirty="0"/>
          </a:p>
          <a:p>
            <a:r>
              <a:rPr lang="en-AU" dirty="0"/>
              <a:t>Subsampling (Pooling) Layers: After each convolutional layer, a subsampling layer (also known as a pooling layer) is applied to reduce the spatial dimensions of the feature maps and help in retaining important information while reducing computation.</a:t>
            </a:r>
            <a:endParaRPr lang="en-IN" dirty="0"/>
          </a:p>
          <a:p>
            <a:r>
              <a:rPr lang="en-AU" dirty="0"/>
              <a:t>Fully Connected Layers: The subsampled feature maps are then flattened and passed through fully connected layers, which are traditional neural network layers. These layers are responsible for making classification decisions based on the extracted features.</a:t>
            </a:r>
            <a:endParaRPr lang="en-IN" dirty="0"/>
          </a:p>
          <a:p>
            <a:r>
              <a:rPr lang="en-AU" dirty="0"/>
              <a:t>Output Layer: The final fully connected layer produces the output of the network, which represents the predicted class probabilities. For handwritten digit recognition, this would typically involve 10 output nodes, each corresponding to a digit class (0 to 9).</a:t>
            </a:r>
            <a:endParaRPr lang="en-IN" dirty="0"/>
          </a:p>
          <a:p>
            <a:r>
              <a:rPr lang="en-AU" dirty="0" err="1"/>
              <a:t>LeNet</a:t>
            </a:r>
            <a:r>
              <a:rPr lang="en-AU" dirty="0"/>
              <a:t> was designed before the deep learning era as we know it today, so it has fewer layers compared to modern architectures like </a:t>
            </a:r>
            <a:r>
              <a:rPr lang="en-AU" dirty="0" err="1"/>
              <a:t>ResNet</a:t>
            </a:r>
            <a:r>
              <a:rPr lang="en-AU" dirty="0"/>
              <a:t>, VGG, or Inception. However, its fundamental design principles, including the use of convolutional and pooling layers, inspired the development of more complex CNN architectures. </a:t>
            </a:r>
            <a:r>
              <a:rPr lang="en-AU" dirty="0" err="1"/>
              <a:t>LeNet</a:t>
            </a:r>
            <a:r>
              <a:rPr lang="en-AU" dirty="0"/>
              <a:t> demonstrated the potential of neural networks in handling image recognition tasks and played a pivotal role in the resurgence of interest in neural networks during the early 2000s</a:t>
            </a:r>
            <a:r>
              <a:rPr lang="en-AU" dirty="0" smtClean="0"/>
              <a:t>.</a:t>
            </a:r>
            <a:endParaRPr lang="en-IN" dirty="0"/>
          </a:p>
        </p:txBody>
      </p:sp>
    </p:spTree>
    <p:extLst>
      <p:ext uri="{BB962C8B-B14F-4D97-AF65-F5344CB8AC3E}">
        <p14:creationId xmlns:p14="http://schemas.microsoft.com/office/powerpoint/2010/main" val="306265973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Users\SPIRO-PYTHON\Music\lenetarchitecture.jpe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57841" y="1750369"/>
            <a:ext cx="8947150" cy="3387135"/>
          </a:xfrm>
          <a:prstGeom prst="rect">
            <a:avLst/>
          </a:prstGeom>
          <a:noFill/>
          <a:ln>
            <a:noFill/>
          </a:ln>
        </p:spPr>
      </p:pic>
    </p:spTree>
    <p:extLst>
      <p:ext uri="{BB962C8B-B14F-4D97-AF65-F5344CB8AC3E}">
        <p14:creationId xmlns:p14="http://schemas.microsoft.com/office/powerpoint/2010/main" val="2081207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SCREEN SHOTS:</a:t>
            </a:r>
            <a:r>
              <a:rPr lang="en-IN" dirty="0"/>
              <a:t/>
            </a:r>
            <a:br>
              <a:rPr lang="en-IN" dirty="0"/>
            </a:br>
            <a:r>
              <a:rPr lang="en-AU" b="1" dirty="0"/>
              <a:t>LANDING PAGE</a:t>
            </a:r>
            <a:endParaRPr lang="en-IN" dirty="0"/>
          </a:p>
        </p:txBody>
      </p:sp>
      <p:pic>
        <p:nvPicPr>
          <p:cNvPr id="4" name="Content Placeholder 3"/>
          <p:cNvPicPr>
            <a:picLocks noGrp="1"/>
          </p:cNvPicPr>
          <p:nvPr>
            <p:ph idx="1"/>
          </p:nvPr>
        </p:nvPicPr>
        <p:blipFill>
          <a:blip r:embed="rId2"/>
          <a:stretch>
            <a:fillRect/>
          </a:stretch>
        </p:blipFill>
        <p:spPr>
          <a:xfrm>
            <a:off x="1268005" y="2052638"/>
            <a:ext cx="8617765" cy="4195762"/>
          </a:xfrm>
          <a:prstGeom prst="rect">
            <a:avLst/>
          </a:prstGeom>
        </p:spPr>
      </p:pic>
    </p:spTree>
    <p:extLst>
      <p:ext uri="{BB962C8B-B14F-4D97-AF65-F5344CB8AC3E}">
        <p14:creationId xmlns:p14="http://schemas.microsoft.com/office/powerpoint/2010/main" val="17053032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Register Page</a:t>
            </a:r>
            <a:r>
              <a:rPr lang="en-IN" dirty="0"/>
              <a:t/>
            </a:r>
            <a:br>
              <a:rPr lang="en-IN" dirty="0"/>
            </a:br>
            <a:endParaRPr lang="en-IN" dirty="0"/>
          </a:p>
        </p:txBody>
      </p:sp>
      <p:pic>
        <p:nvPicPr>
          <p:cNvPr id="4" name="Content Placeholder 3"/>
          <p:cNvPicPr>
            <a:picLocks noGrp="1"/>
          </p:cNvPicPr>
          <p:nvPr>
            <p:ph idx="1"/>
          </p:nvPr>
        </p:nvPicPr>
        <p:blipFill>
          <a:blip r:embed="rId2"/>
          <a:stretch>
            <a:fillRect/>
          </a:stretch>
        </p:blipFill>
        <p:spPr>
          <a:xfrm>
            <a:off x="2539552" y="2052638"/>
            <a:ext cx="6074671" cy="4195762"/>
          </a:xfrm>
          <a:prstGeom prst="rect">
            <a:avLst/>
          </a:prstGeom>
        </p:spPr>
      </p:pic>
    </p:spTree>
    <p:extLst>
      <p:ext uri="{BB962C8B-B14F-4D97-AF65-F5344CB8AC3E}">
        <p14:creationId xmlns:p14="http://schemas.microsoft.com/office/powerpoint/2010/main" val="1945134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Login Page</a:t>
            </a:r>
            <a:r>
              <a:rPr lang="en-IN" dirty="0"/>
              <a:t/>
            </a:r>
            <a:br>
              <a:rPr lang="en-IN" dirty="0"/>
            </a:br>
            <a:endParaRPr lang="en-IN" dirty="0"/>
          </a:p>
        </p:txBody>
      </p:sp>
      <p:pic>
        <p:nvPicPr>
          <p:cNvPr id="10" name="Content Placeholder 9"/>
          <p:cNvPicPr>
            <a:picLocks noGrp="1"/>
          </p:cNvPicPr>
          <p:nvPr>
            <p:ph idx="1"/>
          </p:nvPr>
        </p:nvPicPr>
        <p:blipFill>
          <a:blip r:embed="rId2"/>
          <a:stretch>
            <a:fillRect/>
          </a:stretch>
        </p:blipFill>
        <p:spPr>
          <a:xfrm>
            <a:off x="1103313" y="2154292"/>
            <a:ext cx="8947150" cy="3992454"/>
          </a:xfrm>
          <a:prstGeom prst="rect">
            <a:avLst/>
          </a:prstGeom>
        </p:spPr>
      </p:pic>
    </p:spTree>
    <p:extLst>
      <p:ext uri="{BB962C8B-B14F-4D97-AF65-F5344CB8AC3E}">
        <p14:creationId xmlns:p14="http://schemas.microsoft.com/office/powerpoint/2010/main" val="15241752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HOME PAGE:</a:t>
            </a:r>
            <a:r>
              <a:rPr lang="en-IN" dirty="0"/>
              <a:t/>
            </a:r>
            <a:br>
              <a:rPr lang="en-IN" dirty="0"/>
            </a:br>
            <a:endParaRPr lang="en-IN" dirty="0"/>
          </a:p>
        </p:txBody>
      </p:sp>
      <p:pic>
        <p:nvPicPr>
          <p:cNvPr id="4" name="Content Placeholder 3"/>
          <p:cNvPicPr>
            <a:picLocks noGrp="1"/>
          </p:cNvPicPr>
          <p:nvPr>
            <p:ph idx="1"/>
          </p:nvPr>
        </p:nvPicPr>
        <p:blipFill>
          <a:blip r:embed="rId2"/>
          <a:stretch>
            <a:fillRect/>
          </a:stretch>
        </p:blipFill>
        <p:spPr>
          <a:xfrm>
            <a:off x="1293292" y="2052638"/>
            <a:ext cx="8567191" cy="4195762"/>
          </a:xfrm>
          <a:prstGeom prst="rect">
            <a:avLst/>
          </a:prstGeom>
        </p:spPr>
      </p:pic>
    </p:spTree>
    <p:extLst>
      <p:ext uri="{BB962C8B-B14F-4D97-AF65-F5344CB8AC3E}">
        <p14:creationId xmlns:p14="http://schemas.microsoft.com/office/powerpoint/2010/main" val="2590827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INPUT PAGE</a:t>
            </a:r>
            <a:r>
              <a:rPr lang="en-IN" dirty="0"/>
              <a:t/>
            </a:r>
            <a:br>
              <a:rPr lang="en-IN" dirty="0"/>
            </a:br>
            <a:endParaRPr lang="en-IN" dirty="0"/>
          </a:p>
        </p:txBody>
      </p:sp>
      <p:pic>
        <p:nvPicPr>
          <p:cNvPr id="4" name="Content Placeholder 3"/>
          <p:cNvPicPr>
            <a:picLocks noGrp="1"/>
          </p:cNvPicPr>
          <p:nvPr>
            <p:ph idx="1"/>
          </p:nvPr>
        </p:nvPicPr>
        <p:blipFill>
          <a:blip r:embed="rId2"/>
          <a:stretch>
            <a:fillRect/>
          </a:stretch>
        </p:blipFill>
        <p:spPr>
          <a:xfrm>
            <a:off x="1103313" y="2066748"/>
            <a:ext cx="8947150" cy="4167542"/>
          </a:xfrm>
          <a:prstGeom prst="rect">
            <a:avLst/>
          </a:prstGeom>
        </p:spPr>
      </p:pic>
    </p:spTree>
    <p:extLst>
      <p:ext uri="{BB962C8B-B14F-4D97-AF65-F5344CB8AC3E}">
        <p14:creationId xmlns:p14="http://schemas.microsoft.com/office/powerpoint/2010/main" val="36051365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OUTPUT PAGE</a:t>
            </a:r>
            <a:r>
              <a:rPr lang="en-IN" dirty="0"/>
              <a:t/>
            </a:r>
            <a:br>
              <a:rPr lang="en-IN" dirty="0"/>
            </a:br>
            <a:endParaRPr lang="en-IN" dirty="0"/>
          </a:p>
        </p:txBody>
      </p:sp>
      <p:pic>
        <p:nvPicPr>
          <p:cNvPr id="4" name="Content Placeholder 3"/>
          <p:cNvPicPr>
            <a:picLocks noGrp="1"/>
          </p:cNvPicPr>
          <p:nvPr>
            <p:ph idx="1"/>
          </p:nvPr>
        </p:nvPicPr>
        <p:blipFill>
          <a:blip r:embed="rId2"/>
          <a:stretch>
            <a:fillRect/>
          </a:stretch>
        </p:blipFill>
        <p:spPr>
          <a:xfrm>
            <a:off x="1606249" y="2052638"/>
            <a:ext cx="7941278" cy="4195762"/>
          </a:xfrm>
          <a:prstGeom prst="rect">
            <a:avLst/>
          </a:prstGeom>
        </p:spPr>
      </p:pic>
    </p:spTree>
    <p:extLst>
      <p:ext uri="{BB962C8B-B14F-4D97-AF65-F5344CB8AC3E}">
        <p14:creationId xmlns:p14="http://schemas.microsoft.com/office/powerpoint/2010/main" val="9974634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DATABASE  PAGE</a:t>
            </a:r>
            <a:endParaRPr lang="en-IN" dirty="0"/>
          </a:p>
        </p:txBody>
      </p:sp>
      <p:pic>
        <p:nvPicPr>
          <p:cNvPr id="4" name="Content Placeholder 3"/>
          <p:cNvPicPr>
            <a:picLocks noGrp="1"/>
          </p:cNvPicPr>
          <p:nvPr>
            <p:ph idx="1"/>
          </p:nvPr>
        </p:nvPicPr>
        <p:blipFill>
          <a:blip r:embed="rId2"/>
          <a:stretch>
            <a:fillRect/>
          </a:stretch>
        </p:blipFill>
        <p:spPr>
          <a:xfrm>
            <a:off x="1103313" y="2079011"/>
            <a:ext cx="8947150" cy="4143015"/>
          </a:xfrm>
          <a:prstGeom prst="rect">
            <a:avLst/>
          </a:prstGeom>
        </p:spPr>
      </p:pic>
    </p:spTree>
    <p:extLst>
      <p:ext uri="{BB962C8B-B14F-4D97-AF65-F5344CB8AC3E}">
        <p14:creationId xmlns:p14="http://schemas.microsoft.com/office/powerpoint/2010/main" val="9864640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Conclusion</a:t>
            </a:r>
            <a:r>
              <a:rPr lang="en-AU" b="1" dirty="0" smtClean="0"/>
              <a:t>:</a:t>
            </a:r>
            <a:endParaRPr lang="en-AU" dirty="0"/>
          </a:p>
        </p:txBody>
      </p:sp>
      <p:sp>
        <p:nvSpPr>
          <p:cNvPr id="3" name="Content Placeholder 2"/>
          <p:cNvSpPr>
            <a:spLocks noGrp="1"/>
          </p:cNvSpPr>
          <p:nvPr>
            <p:ph idx="1"/>
          </p:nvPr>
        </p:nvSpPr>
        <p:spPr/>
        <p:txBody>
          <a:bodyPr>
            <a:normAutofit fontScale="92500"/>
          </a:bodyPr>
          <a:lstStyle/>
          <a:p>
            <a:r>
              <a:rPr lang="en-AU" dirty="0"/>
              <a:t>In conclusion, the application of Convolutional Neural Network (CNN) architectures in SPINE STENOSIS classification has demonstrated significant strides towards improving diagnostic accuracy in musculoskeletal radiology. The robust feature extraction capabilities of CNNs have enabled the identification and categorization of diverse spine abnormalities with remarkable precision. This technological advancement holds promise for streamlining and enhancing the efficiency of diagnostic processes, ultimately contributing to more inform clinical decision-making. As the field continues to embrace automated image analysis, the integration of CNN architectures stands out as a pivotal step towards revolutionizing spine diagnostics and improving patient outcomes. Further research and refinement of these models promise continued advancements in the realm of automated musculoskeletal imaging analysis.</a:t>
            </a:r>
            <a:endParaRPr lang="en-IN" dirty="0"/>
          </a:p>
        </p:txBody>
      </p:sp>
    </p:spTree>
    <p:extLst>
      <p:ext uri="{BB962C8B-B14F-4D97-AF65-F5344CB8AC3E}">
        <p14:creationId xmlns:p14="http://schemas.microsoft.com/office/powerpoint/2010/main" val="265204481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Future Work:</a:t>
            </a:r>
            <a:r>
              <a:rPr lang="en-IN" dirty="0"/>
              <a:t/>
            </a:r>
            <a:br>
              <a:rPr lang="en-IN" dirty="0"/>
            </a:br>
            <a:endParaRPr lang="en-IN" dirty="0"/>
          </a:p>
        </p:txBody>
      </p:sp>
      <p:sp>
        <p:nvSpPr>
          <p:cNvPr id="3" name="Content Placeholder 2"/>
          <p:cNvSpPr>
            <a:spLocks noGrp="1"/>
          </p:cNvSpPr>
          <p:nvPr>
            <p:ph idx="1"/>
          </p:nvPr>
        </p:nvSpPr>
        <p:spPr/>
        <p:txBody>
          <a:bodyPr/>
          <a:lstStyle/>
          <a:p>
            <a:r>
              <a:rPr lang="en-AU" dirty="0"/>
              <a:t>Medical department wants to automate the detecting of Spine abnormality from eligibility process (real time).</a:t>
            </a:r>
          </a:p>
          <a:p>
            <a:pPr lvl="0"/>
            <a:r>
              <a:rPr lang="en-AU"/>
              <a:t>To optimize the work to implement in cloud environment.</a:t>
            </a:r>
            <a:endParaRPr lang="en-IN" dirty="0"/>
          </a:p>
        </p:txBody>
      </p:sp>
    </p:spTree>
    <p:extLst>
      <p:ext uri="{BB962C8B-B14F-4D97-AF65-F5344CB8AC3E}">
        <p14:creationId xmlns:p14="http://schemas.microsoft.com/office/powerpoint/2010/main" val="4160067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69</TotalTime>
  <Words>2003</Words>
  <Application>Microsoft Office PowerPoint</Application>
  <PresentationFormat>Widescreen</PresentationFormat>
  <Paragraphs>104</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Century Gothic</vt:lpstr>
      <vt:lpstr>Times New Roman</vt:lpstr>
      <vt:lpstr>Wingdings</vt:lpstr>
      <vt:lpstr>Wingdings 3</vt:lpstr>
      <vt:lpstr>Ion</vt:lpstr>
      <vt:lpstr>SPINAL VISION CNN-DRIVEN TECHNIQUES FOR ACCURATE STENOSIS DETECTION</vt:lpstr>
      <vt:lpstr>ABSTRACT: </vt:lpstr>
      <vt:lpstr>EXISTING SYSTEM:</vt:lpstr>
      <vt:lpstr>Drawbacks:</vt:lpstr>
      <vt:lpstr>INTRODUCTION</vt:lpstr>
      <vt:lpstr>PROPOSED SYSTEM: </vt:lpstr>
      <vt:lpstr>Advantages: </vt:lpstr>
      <vt:lpstr>PREPARING THE DATASET: </vt:lpstr>
      <vt:lpstr>  Review of Literature Survey</vt:lpstr>
      <vt:lpstr>PowerPoint Presentation</vt:lpstr>
      <vt:lpstr>PowerPoint Presentation</vt:lpstr>
      <vt:lpstr>PowerPoint Presentation</vt:lpstr>
      <vt:lpstr>SYSTEM STUDY</vt:lpstr>
      <vt:lpstr>Scope:</vt:lpstr>
      <vt:lpstr>Environment Requirements: </vt:lpstr>
      <vt:lpstr>System Architecture: </vt:lpstr>
      <vt:lpstr>USECASE DIAGRAM: </vt:lpstr>
      <vt:lpstr>CLASS DIAGRAM:</vt:lpstr>
      <vt:lpstr>ACTIVITY DIAGRAM:</vt:lpstr>
      <vt:lpstr>SEQUENCE DIAGRAM:</vt:lpstr>
      <vt:lpstr>ER DIAGRAM: </vt:lpstr>
      <vt:lpstr>List of modules</vt:lpstr>
      <vt:lpstr>GOOGLE NET: </vt:lpstr>
      <vt:lpstr>GOOGLE NET: </vt:lpstr>
      <vt:lpstr>LENET:</vt:lpstr>
      <vt:lpstr>PowerPoint Presentation</vt:lpstr>
      <vt:lpstr>SCREEN SHOTS: LANDING PAGE</vt:lpstr>
      <vt:lpstr>Register Page </vt:lpstr>
      <vt:lpstr>Login Page </vt:lpstr>
      <vt:lpstr>HOME PAGE: </vt:lpstr>
      <vt:lpstr>INPUT PAGE </vt:lpstr>
      <vt:lpstr>OUTPUT PAGE </vt:lpstr>
      <vt:lpstr>DATABASE  PAGE</vt:lpstr>
      <vt:lpstr>Conclusion:</vt:lpstr>
      <vt:lpstr>Future Work: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AND COMPARISON OF ALEXNET ALGORITHM WITH LENET WITH IMPROVED ACCURACY</dc:title>
  <dc:creator>SPIRO25</dc:creator>
  <cp:lastModifiedBy>SPIRO-PYTHON</cp:lastModifiedBy>
  <cp:revision>17</cp:revision>
  <dcterms:created xsi:type="dcterms:W3CDTF">2022-12-02T09:46:32Z</dcterms:created>
  <dcterms:modified xsi:type="dcterms:W3CDTF">2024-10-05T05:02:10Z</dcterms:modified>
</cp:coreProperties>
</file>